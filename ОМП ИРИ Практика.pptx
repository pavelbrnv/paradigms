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5"/>
  </p:notesMasterIdLst>
  <p:handoutMasterIdLst>
    <p:handoutMasterId r:id="rId36"/>
  </p:handoutMasterIdLst>
  <p:sldIdLst>
    <p:sldId id="259" r:id="rId2"/>
    <p:sldId id="350" r:id="rId3"/>
    <p:sldId id="351" r:id="rId4"/>
    <p:sldId id="352" r:id="rId5"/>
    <p:sldId id="353" r:id="rId6"/>
    <p:sldId id="377" r:id="rId7"/>
    <p:sldId id="354" r:id="rId8"/>
    <p:sldId id="355" r:id="rId9"/>
    <p:sldId id="356" r:id="rId10"/>
    <p:sldId id="357" r:id="rId11"/>
    <p:sldId id="378" r:id="rId12"/>
    <p:sldId id="358" r:id="rId13"/>
    <p:sldId id="359" r:id="rId14"/>
    <p:sldId id="360" r:id="rId15"/>
    <p:sldId id="379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80" r:id="rId25"/>
    <p:sldId id="369" r:id="rId26"/>
    <p:sldId id="370" r:id="rId27"/>
    <p:sldId id="371" r:id="rId28"/>
    <p:sldId id="372" r:id="rId29"/>
    <p:sldId id="373" r:id="rId30"/>
    <p:sldId id="374" r:id="rId31"/>
    <p:sldId id="381" r:id="rId32"/>
    <p:sldId id="375" r:id="rId33"/>
    <p:sldId id="376" r:id="rId34"/>
  </p:sldIdLst>
  <p:sldSz cx="10691813" cy="7559675"/>
  <p:notesSz cx="6807200" cy="99393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977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9550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49326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9910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488768" algn="l" defTabSz="99550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986522" algn="l" defTabSz="99550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484275" algn="l" defTabSz="99550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982029" algn="l" defTabSz="995507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ACEAA16E-E1CE-DD44-A6AA-7EA6A7612FCD}">
          <p14:sldIdLst>
            <p14:sldId id="259"/>
            <p14:sldId id="350"/>
            <p14:sldId id="351"/>
            <p14:sldId id="352"/>
            <p14:sldId id="353"/>
            <p14:sldId id="377"/>
            <p14:sldId id="354"/>
            <p14:sldId id="355"/>
            <p14:sldId id="356"/>
            <p14:sldId id="357"/>
            <p14:sldId id="378"/>
            <p14:sldId id="358"/>
            <p14:sldId id="359"/>
            <p14:sldId id="360"/>
            <p14:sldId id="37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80"/>
            <p14:sldId id="369"/>
            <p14:sldId id="370"/>
            <p14:sldId id="371"/>
            <p14:sldId id="372"/>
            <p14:sldId id="373"/>
            <p14:sldId id="374"/>
            <p14:sldId id="381"/>
            <p14:sldId id="375"/>
            <p14:sldId id="3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95F"/>
    <a:srgbClr val="FFFFFF"/>
    <a:srgbClr val="E2E2E0"/>
    <a:srgbClr val="8CA1B3"/>
    <a:srgbClr val="C3D4D9"/>
    <a:srgbClr val="C4D3D8"/>
    <a:srgbClr val="093E6E"/>
    <a:srgbClr val="F7941D"/>
    <a:srgbClr val="6785AD"/>
    <a:srgbClr val="536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6405" autoAdjust="0"/>
  </p:normalViewPr>
  <p:slideViewPr>
    <p:cSldViewPr snapToGrid="0">
      <p:cViewPr varScale="1">
        <p:scale>
          <a:sx n="81" d="100"/>
          <a:sy n="81" d="100"/>
        </p:scale>
        <p:origin x="890" y="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0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23407A3-7626-420B-91F0-BC46F546C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613D8E-BD83-4660-AA72-E3AC2E1162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5F603-468B-4525-9F06-5CA57250D680}" type="datetimeFigureOut">
              <a:rPr lang="ru-RU" smtClean="0"/>
              <a:t>10.03.2024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02BFBD-AA61-4021-829D-D312231DAF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BB08F3-7629-48AF-9F53-983E0D6A6E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6F366-B9D8-4357-B29B-2EBABC921D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926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>
                <a:latin typeface="Arial Regular"/>
              </a:defRPr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 i="0" smtClean="0">
                <a:latin typeface="Arial Regular"/>
              </a:defRPr>
            </a:lvl1pPr>
          </a:lstStyle>
          <a:p>
            <a:pPr>
              <a:defRPr/>
            </a:pPr>
            <a:fld id="{5A54F66A-3FB7-4CCA-ACF4-9D1C22436E5D}" type="datetimeFigureOut">
              <a:rPr lang="ru-RU" smtClean="0"/>
              <a:pPr>
                <a:defRPr/>
              </a:pPr>
              <a:t>10.03.2024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69938" y="746125"/>
            <a:ext cx="52673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dirty="0"/>
              <a:t>Образец текста</a:t>
            </a:r>
          </a:p>
          <a:p>
            <a:pPr lvl="1"/>
            <a:r>
              <a:rPr lang="ru-RU" noProof="0" dirty="0"/>
              <a:t>Второй уровень</a:t>
            </a:r>
          </a:p>
          <a:p>
            <a:pPr lvl="2"/>
            <a:r>
              <a:rPr lang="ru-RU" noProof="0" dirty="0"/>
              <a:t>Третий уровень</a:t>
            </a:r>
          </a:p>
          <a:p>
            <a:pPr lvl="3"/>
            <a:r>
              <a:rPr lang="ru-RU" noProof="0" dirty="0"/>
              <a:t>Четвертый уровень</a:t>
            </a:r>
          </a:p>
          <a:p>
            <a:pPr lvl="4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>
                <a:latin typeface="Arial Regular"/>
              </a:defRPr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 i="0" smtClean="0">
                <a:latin typeface="Arial Regular"/>
              </a:defRPr>
            </a:lvl1pPr>
          </a:lstStyle>
          <a:p>
            <a:pPr>
              <a:defRPr/>
            </a:pPr>
            <a:fld id="{7D48CF7E-8F7E-41A2-ACFD-3A8A9F8B15C9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14532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306" b="0" i="0" kern="1200">
        <a:solidFill>
          <a:schemeClr val="tx1"/>
        </a:solidFill>
        <a:latin typeface="Arial Regular"/>
        <a:ea typeface="+mn-ea"/>
        <a:cs typeface="+mn-cs"/>
      </a:defRPr>
    </a:lvl1pPr>
    <a:lvl2pPr marL="497754" algn="l" rtl="0" fontAlgn="base">
      <a:spcBef>
        <a:spcPct val="30000"/>
      </a:spcBef>
      <a:spcAft>
        <a:spcPct val="0"/>
      </a:spcAft>
      <a:defRPr sz="1306" b="0" i="0" kern="1200">
        <a:solidFill>
          <a:schemeClr val="tx1"/>
        </a:solidFill>
        <a:latin typeface="Arial Regular"/>
        <a:ea typeface="+mn-ea"/>
        <a:cs typeface="+mn-cs"/>
      </a:defRPr>
    </a:lvl2pPr>
    <a:lvl3pPr marL="995507" algn="l" rtl="0" fontAlgn="base">
      <a:spcBef>
        <a:spcPct val="30000"/>
      </a:spcBef>
      <a:spcAft>
        <a:spcPct val="0"/>
      </a:spcAft>
      <a:defRPr sz="1306" b="0" i="0" kern="1200">
        <a:solidFill>
          <a:schemeClr val="tx1"/>
        </a:solidFill>
        <a:latin typeface="Arial Regular"/>
        <a:ea typeface="+mn-ea"/>
        <a:cs typeface="+mn-cs"/>
      </a:defRPr>
    </a:lvl3pPr>
    <a:lvl4pPr marL="1493261" algn="l" rtl="0" fontAlgn="base">
      <a:spcBef>
        <a:spcPct val="30000"/>
      </a:spcBef>
      <a:spcAft>
        <a:spcPct val="0"/>
      </a:spcAft>
      <a:defRPr sz="1306" b="0" i="0" kern="1200">
        <a:solidFill>
          <a:schemeClr val="tx1"/>
        </a:solidFill>
        <a:latin typeface="Arial Regular"/>
        <a:ea typeface="+mn-ea"/>
        <a:cs typeface="+mn-cs"/>
      </a:defRPr>
    </a:lvl4pPr>
    <a:lvl5pPr marL="1991015" algn="l" rtl="0" fontAlgn="base">
      <a:spcBef>
        <a:spcPct val="30000"/>
      </a:spcBef>
      <a:spcAft>
        <a:spcPct val="0"/>
      </a:spcAft>
      <a:defRPr sz="1306" b="0" i="0" kern="1200">
        <a:solidFill>
          <a:schemeClr val="tx1"/>
        </a:solidFill>
        <a:latin typeface="Arial Regular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струкция к стил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41313" y="1116013"/>
            <a:ext cx="9793287" cy="863600"/>
          </a:xfrm>
          <a:prstGeom prst="rect">
            <a:avLst/>
          </a:prstGeom>
        </p:spPr>
        <p:txBody>
          <a:bodyPr/>
          <a:lstStyle>
            <a:lvl1pPr>
              <a:defRPr sz="3200" cap="none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1 УРОВНЯ – 32 ПТ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057E052-BBF7-FD43-B16C-49682B9001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106" y="3059114"/>
            <a:ext cx="3204369" cy="18002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lang="ru-RU" sz="120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ru-RU" dirty="0"/>
              <a:t>Основной текст – 12 </a:t>
            </a:r>
            <a:r>
              <a:rPr lang="ru-RU" dirty="0" err="1"/>
              <a:t>пт</a:t>
            </a:r>
            <a:endParaRPr lang="ru-RU" dirty="0"/>
          </a:p>
          <a:p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0EA4C92-1B9D-EA4B-80E9-DE7F7AA6B4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4425" y="3059115"/>
            <a:ext cx="3203576" cy="1800224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списка – 12 </a:t>
            </a:r>
            <a:r>
              <a:rPr lang="ru-RU" dirty="0" err="1"/>
              <a:t>пт</a:t>
            </a:r>
            <a:endParaRPr lang="ru-RU" dirty="0"/>
          </a:p>
          <a:p>
            <a:r>
              <a:rPr lang="ru-RU" dirty="0"/>
              <a:t>Образец списка</a:t>
            </a:r>
          </a:p>
          <a:p>
            <a:endParaRPr lang="ru-RU" dirty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128FFA9-9663-3E45-B1AE-FE8E39C8BA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3" y="2088639"/>
            <a:ext cx="9793287" cy="827599"/>
          </a:xfrm>
          <a:prstGeom prst="rect">
            <a:avLst/>
          </a:prstGeom>
        </p:spPr>
        <p:txBody>
          <a:bodyPr anchor="ctr"/>
          <a:lstStyle>
            <a:lvl1pPr>
              <a:defRPr sz="2000" b="1" i="0" cap="none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2 УРОВНЯ – 20 ПТ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7FFB404-93DF-0E4A-843B-8078392DEF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5952" y="3068343"/>
            <a:ext cx="3168648" cy="8194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</a:t>
            </a:r>
            <a:r>
              <a:rPr lang="ru-RU" dirty="0" err="1"/>
              <a:t>лида</a:t>
            </a:r>
            <a:r>
              <a:rPr lang="ru-RU" dirty="0"/>
              <a:t> – 14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36DFAFF-E727-8B4D-A5E0-D4695F991C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5951" y="4040975"/>
            <a:ext cx="3168648" cy="468312"/>
          </a:xfrm>
          <a:prstGeom prst="rect">
            <a:avLst/>
          </a:prstGeom>
        </p:spPr>
        <p:txBody>
          <a:bodyPr/>
          <a:lstStyle>
            <a:lvl1pPr>
              <a:defRPr sz="1100" b="0" i="1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подписи фото – 11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EC48E20-C8FE-41D4-8B2B-02E0CFF3D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309AEFB0-2B6C-4510-BE24-355EB8B5B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A2BDA424-21BA-4437-A4C0-C947B1FECD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rgbClr val="C4D3D8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711903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854387DD-5792-D743-A331-0B53D7D7B6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311" y="1116014"/>
            <a:ext cx="4723058" cy="4824411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63C90574-08F4-5B44-98FE-FCF207570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0188" y="2081712"/>
            <a:ext cx="4824412" cy="4360747"/>
          </a:xfrm>
          <a:prstGeom prst="rect">
            <a:avLst/>
          </a:prstGeom>
        </p:spPr>
        <p:txBody>
          <a:bodyPr lIns="90000"/>
          <a:lstStyle>
            <a:lvl1pPr marL="360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charset="0"/>
              <a:buNone/>
              <a:tabLst/>
              <a:defRPr lang="en" sz="12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ru-RU" dirty="0"/>
              <a:t>Основной текст</a:t>
            </a:r>
            <a:endParaRPr lang="en" dirty="0"/>
          </a:p>
          <a:p>
            <a:r>
              <a:rPr lang="en" dirty="0"/>
              <a:t/>
            </a:r>
            <a:br>
              <a:rPr lang="en" dirty="0"/>
            </a:br>
            <a:endParaRPr lang="ru-RU" dirty="0"/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239E462D-6B59-414A-9998-228542B389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0188" y="1117215"/>
            <a:ext cx="4824412" cy="862397"/>
          </a:xfrm>
          <a:prstGeom prst="rect">
            <a:avLst/>
          </a:prstGeom>
        </p:spPr>
        <p:txBody>
          <a:bodyPr anchor="ctr"/>
          <a:lstStyle>
            <a:lvl1pPr>
              <a:defRPr sz="2000" b="1" i="0" cap="all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99779D38-60CF-49FA-BF12-522BCC55D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AC220B0F-3D4B-46D6-ACAD-2AD01B99F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314" y="6083770"/>
            <a:ext cx="4723056" cy="359891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600"/>
              </a:spcBef>
              <a:defRPr sz="1100" b="0" i="1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подписи фото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3E5F65E-A394-40E9-B741-E644E00C53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F3E0B678-6338-4E93-9F3B-0F01E2DFB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438153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userDrawn="1">
          <p15:clr>
            <a:srgbClr val="FBAE40"/>
          </p15:clr>
        </p15:guide>
        <p15:guide id="4" orient="horz" pos="435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854387DD-5792-D743-A331-0B53D7D7B6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313" y="2090391"/>
            <a:ext cx="4860925" cy="287689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63C90574-08F4-5B44-98FE-FCF207570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13" y="5075239"/>
            <a:ext cx="9793288" cy="1702744"/>
          </a:xfrm>
          <a:prstGeom prst="rect">
            <a:avLst/>
          </a:prstGeom>
        </p:spPr>
        <p:txBody>
          <a:bodyPr lIns="90000"/>
          <a:lstStyle>
            <a:lvl1pPr marL="360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charset="0"/>
              <a:buNone/>
              <a:tabLst/>
              <a:defRPr lang="en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ru-RU" dirty="0"/>
              <a:t>Основной текст</a:t>
            </a: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239E462D-6B59-414A-9998-228542B389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3" y="1116013"/>
            <a:ext cx="9793287" cy="866427"/>
          </a:xfrm>
          <a:prstGeom prst="rect">
            <a:avLst/>
          </a:prstGeom>
        </p:spPr>
        <p:txBody>
          <a:bodyPr anchor="ctr"/>
          <a:lstStyle>
            <a:lvl1pPr>
              <a:defRPr sz="2000" b="1" i="0" cap="all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4" name="Рисунок 8">
            <a:extLst>
              <a:ext uri="{FF2B5EF4-FFF2-40B4-BE49-F238E27FC236}">
                <a16:creationId xmlns:a16="http://schemas.microsoft.com/office/drawing/2014/main" id="{4AA72691-FB82-844B-842A-3074A9701D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10189" y="2090391"/>
            <a:ext cx="4824412" cy="287689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EBD3A20E-FD74-41DA-8A0A-E9480A1FFC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142DB05-E524-404A-A2B0-1D5E18A02A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AB3E4760-36DC-4BE5-AA33-7A0681E04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557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35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854387DD-5792-D743-A331-0B53D7D7B6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313" y="3995738"/>
            <a:ext cx="4860925" cy="28082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63C90574-08F4-5B44-98FE-FCF207570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0189" y="4010523"/>
            <a:ext cx="4824412" cy="2793502"/>
          </a:xfrm>
          <a:prstGeom prst="rect">
            <a:avLst/>
          </a:prstGeom>
        </p:spPr>
        <p:txBody>
          <a:bodyPr lIns="90000"/>
          <a:lstStyle>
            <a:lvl1pPr marL="360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charset="0"/>
              <a:buNone/>
              <a:tabLst/>
              <a:defRPr lang="en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ru-RU" dirty="0"/>
              <a:t>Основной текст</a:t>
            </a:r>
          </a:p>
        </p:txBody>
      </p:sp>
      <p:sp>
        <p:nvSpPr>
          <p:cNvPr id="15" name="Рисунок 8">
            <a:extLst>
              <a:ext uri="{FF2B5EF4-FFF2-40B4-BE49-F238E27FC236}">
                <a16:creationId xmlns:a16="http://schemas.microsoft.com/office/drawing/2014/main" id="{B7C4AE1B-47B0-324F-8BF0-01B88BFE80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1313" y="1116012"/>
            <a:ext cx="4860925" cy="277891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A2A497C9-5423-6346-8A1D-2B3600BE3B1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310188" y="1123656"/>
            <a:ext cx="4824412" cy="2764132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FEA3E1F6-6333-4D76-B108-8556D7626F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FEDF8662-3CBA-4FA7-9983-D6AD189EC1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470B63AA-429F-4462-973F-684C0776D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48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35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854387DD-5792-D743-A331-0B53D7D7B6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0188" y="1116014"/>
            <a:ext cx="4824412" cy="4824411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587422D-2CC8-AA42-A0CE-B248031AC9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194" y="2087563"/>
            <a:ext cx="4846043" cy="4356098"/>
          </a:xfrm>
          <a:prstGeom prst="rect">
            <a:avLst/>
          </a:prstGeom>
        </p:spPr>
        <p:txBody>
          <a:bodyPr/>
          <a:lstStyle>
            <a:lvl1pPr fontAlgn="b">
              <a:defRPr lang="en" sz="1300" b="0" i="0" u="none" strike="noStrike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ru-RU" dirty="0"/>
              <a:t>Основной текст</a:t>
            </a:r>
          </a:p>
        </p:txBody>
      </p:sp>
      <p:sp>
        <p:nvSpPr>
          <p:cNvPr id="12" name="Текст 23">
            <a:extLst>
              <a:ext uri="{FF2B5EF4-FFF2-40B4-BE49-F238E27FC236}">
                <a16:creationId xmlns:a16="http://schemas.microsoft.com/office/drawing/2014/main" id="{2D73DEE0-7BFE-B143-B5C2-ACAAE8363D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136196"/>
            <a:ext cx="4860925" cy="851059"/>
          </a:xfrm>
          <a:prstGeom prst="rect">
            <a:avLst/>
          </a:prstGeom>
        </p:spPr>
        <p:txBody>
          <a:bodyPr anchor="ctr"/>
          <a:lstStyle>
            <a:lvl1pPr>
              <a:defRPr sz="2000" b="1" i="0" cap="all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A4F84B04-3345-410B-A276-791A35F469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474E5357-0B5A-426C-8127-411A7F926B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6016D96C-F2F0-4A29-BE91-70B8B0119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id="{4B604C25-49B0-42F1-AA01-5553A96262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0188" y="6048376"/>
            <a:ext cx="4824412" cy="39528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600"/>
              </a:spcBef>
              <a:defRPr sz="1100" b="0" i="1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подписи фото</a:t>
            </a:r>
          </a:p>
        </p:txBody>
      </p:sp>
    </p:spTree>
    <p:extLst>
      <p:ext uri="{BB962C8B-B14F-4D97-AF65-F5344CB8AC3E}">
        <p14:creationId xmlns:p14="http://schemas.microsoft.com/office/powerpoint/2010/main" val="112949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убрик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кст 9">
            <a:extLst>
              <a:ext uri="{FF2B5EF4-FFF2-40B4-BE49-F238E27FC236}">
                <a16:creationId xmlns:a16="http://schemas.microsoft.com/office/drawing/2014/main" id="{63D737A5-7CBE-8C4D-99FA-BA15ADBA76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314" y="3995738"/>
            <a:ext cx="9793286" cy="863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 cap="all" baseline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B0B9E01D-9EF9-1144-A51B-8F9F55CB36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14" y="4967287"/>
            <a:ext cx="9793286" cy="1836737"/>
          </a:xfrm>
          <a:prstGeom prst="rect">
            <a:avLst/>
          </a:prstGeom>
        </p:spPr>
        <p:txBody>
          <a:bodyPr/>
          <a:lstStyle>
            <a:lvl1pPr>
              <a:defRPr sz="1400" cap="all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278741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1313" y="1139350"/>
            <a:ext cx="9793287" cy="840263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1313" y="2087564"/>
            <a:ext cx="9793287" cy="47164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05EBEA6D-2140-4ECD-922D-CF9837C1DA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6963" y="358775"/>
            <a:ext cx="9037637" cy="649288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ВЕРХНИЙ КОЛОНТИТУЛ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16AB5739-C298-419E-BE65-305607E30D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6963" y="6919618"/>
            <a:ext cx="7381875" cy="460670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НИЖНИЙ КОЛОНТИТУЛ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0221C60F-27FE-46C1-868B-8CA5DCD1D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616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39297BF-268F-DE45-8E59-FC53A1315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9744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C8A9588B-35A9-459D-842F-04068C51F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42070" y="6911976"/>
            <a:ext cx="426219" cy="46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 i="0" baseline="0" smtClean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37AA8F0-AB81-DB4B-90C0-FC1486022B3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72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0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1300" b="0" i="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8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6735">
          <p15:clr>
            <a:srgbClr val="F26B43"/>
          </p15:clr>
        </p15:guide>
        <p15:guide id="6" pos="1190">
          <p15:clr>
            <a:srgbClr val="F26B43"/>
          </p15:clr>
        </p15:guide>
        <p15:guide id="7" orient="horz" pos="4354">
          <p15:clr>
            <a:srgbClr val="F26B43"/>
          </p15:clr>
        </p15:guide>
        <p15:guide id="8" pos="1258">
          <p15:clr>
            <a:srgbClr val="F26B43"/>
          </p15:clr>
        </p15:guide>
        <p15:guide id="9" pos="2234">
          <p15:clr>
            <a:srgbClr val="F26B43"/>
          </p15:clr>
        </p15:guide>
        <p15:guide id="10" pos="3277">
          <p15:clr>
            <a:srgbClr val="F26B43"/>
          </p15:clr>
        </p15:guide>
        <p15:guide id="11" pos="3345">
          <p15:clr>
            <a:srgbClr val="F26B43"/>
          </p15:clr>
        </p15:guide>
        <p15:guide id="12" pos="215">
          <p15:clr>
            <a:srgbClr val="F26B43"/>
          </p15:clr>
        </p15:guide>
        <p15:guide id="13" pos="4320">
          <p15:clr>
            <a:srgbClr val="F26B43"/>
          </p15:clr>
        </p15:guide>
        <p15:guide id="15" orient="horz" pos="635">
          <p15:clr>
            <a:srgbClr val="F26B43"/>
          </p15:clr>
        </p15:guide>
        <p15:guide id="16" orient="horz" pos="703">
          <p15:clr>
            <a:srgbClr val="F26B43"/>
          </p15:clr>
        </p15:guide>
        <p15:guide id="17" orient="horz" pos="1247">
          <p15:clr>
            <a:srgbClr val="F26B43"/>
          </p15:clr>
        </p15:guide>
        <p15:guide id="18" orient="horz" pos="1315">
          <p15:clr>
            <a:srgbClr val="F26B43"/>
          </p15:clr>
        </p15:guide>
        <p15:guide id="19" pos="4388">
          <p15:clr>
            <a:srgbClr val="F26B43"/>
          </p15:clr>
        </p15:guide>
        <p15:guide id="20" pos="5341">
          <p15:clr>
            <a:srgbClr val="F26B43"/>
          </p15:clr>
        </p15:guide>
        <p15:guide id="21" pos="5409">
          <p15:clr>
            <a:srgbClr val="F26B43"/>
          </p15:clr>
        </p15:guide>
        <p15:guide id="22" pos="6384">
          <p15:clr>
            <a:srgbClr val="F26B43"/>
          </p15:clr>
        </p15:guide>
        <p15:guide id="23" pos="2302">
          <p15:clr>
            <a:srgbClr val="F26B43"/>
          </p15:clr>
        </p15:guide>
        <p15:guide id="24" orient="horz" pos="1837">
          <p15:clr>
            <a:srgbClr val="F26B43"/>
          </p15:clr>
        </p15:guide>
        <p15:guide id="25" orient="horz" pos="1927">
          <p15:clr>
            <a:srgbClr val="F26B43"/>
          </p15:clr>
        </p15:guide>
        <p15:guide id="26" orient="horz" pos="2449">
          <p15:clr>
            <a:srgbClr val="F26B43"/>
          </p15:clr>
        </p15:guide>
        <p15:guide id="27" orient="horz" pos="2517">
          <p15:clr>
            <a:srgbClr val="F26B43"/>
          </p15:clr>
        </p15:guide>
        <p15:guide id="28" orient="horz" pos="3061">
          <p15:clr>
            <a:srgbClr val="F26B43"/>
          </p15:clr>
        </p15:guide>
        <p15:guide id="29" orient="horz" pos="3129">
          <p15:clr>
            <a:srgbClr val="F26B43"/>
          </p15:clr>
        </p15:guide>
        <p15:guide id="30" orient="horz" pos="3742">
          <p15:clr>
            <a:srgbClr val="F26B43"/>
          </p15:clr>
        </p15:guide>
        <p15:guide id="31" orient="horz" pos="4286">
          <p15:clr>
            <a:srgbClr val="F26B43"/>
          </p15:clr>
        </p15:guide>
        <p15:guide id="32" orient="horz" pos="4649">
          <p15:clr>
            <a:srgbClr val="F26B43"/>
          </p15:clr>
        </p15:guide>
        <p15:guide id="33" orient="horz" pos="2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Freeform 9"/>
          <p:cNvSpPr/>
          <p:nvPr/>
        </p:nvSpPr>
        <p:spPr>
          <a:xfrm>
            <a:off x="0" y="649"/>
            <a:ext cx="8943361" cy="7565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98" y="21600"/>
                </a:moveTo>
                <a:lnTo>
                  <a:pt x="0" y="21600"/>
                </a:lnTo>
                <a:lnTo>
                  <a:pt x="0" y="0"/>
                </a:lnTo>
                <a:lnTo>
                  <a:pt x="12798" y="0"/>
                </a:lnTo>
                <a:lnTo>
                  <a:pt x="21600" y="10800"/>
                </a:lnTo>
                <a:lnTo>
                  <a:pt x="12798" y="21600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38" rIns="45738"/>
          <a:lstStyle/>
          <a:p>
            <a:pPr>
              <a:defRPr>
                <a:solidFill>
                  <a:srgbClr val="425070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412" name="Текст 3"/>
          <p:cNvSpPr txBox="1">
            <a:spLocks noGrp="1"/>
          </p:cNvSpPr>
          <p:nvPr>
            <p:ph type="body" sz="quarter" idx="4294967295"/>
          </p:nvPr>
        </p:nvSpPr>
        <p:spPr>
          <a:xfrm>
            <a:off x="762416" y="1076557"/>
            <a:ext cx="6688882" cy="4086809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00"/>
              </a:spcBef>
              <a:defRPr sz="1400">
                <a:solidFill>
                  <a:srgbClr val="D6DDE6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>
              <a:lnSpc>
                <a:spcPct val="125000"/>
              </a:lnSpc>
            </a:pPr>
            <a:r>
              <a:rPr lang="ru-RU" sz="3600" b="1" dirty="0">
                <a:solidFill>
                  <a:srgbClr val="FFFFFF"/>
                </a:solidFill>
              </a:rPr>
              <a:t>ОПРЕДЕЛЕНИЕ МЕСТОПОЛОЖЕНИЯ</a:t>
            </a:r>
          </a:p>
          <a:p>
            <a:pPr>
              <a:lnSpc>
                <a:spcPct val="125000"/>
              </a:lnSpc>
            </a:pPr>
            <a:r>
              <a:rPr lang="ru-RU" sz="3600" b="1" dirty="0">
                <a:solidFill>
                  <a:srgbClr val="FFFFFF"/>
                </a:solidFill>
              </a:rPr>
              <a:t>ИСТОЧНИКОВ РАДИОИЗЛУЧЕНИЯ</a:t>
            </a:r>
          </a:p>
          <a:p>
            <a:pPr>
              <a:lnSpc>
                <a:spcPct val="125000"/>
              </a:lnSpc>
            </a:pPr>
            <a:endParaRPr lang="ru-RU" sz="3600" b="1" dirty="0">
              <a:solidFill>
                <a:srgbClr val="FFFFFF"/>
              </a:solidFill>
            </a:endParaRPr>
          </a:p>
          <a:p>
            <a:pPr>
              <a:lnSpc>
                <a:spcPct val="125000"/>
              </a:lnSpc>
            </a:pPr>
            <a:endParaRPr lang="ru-RU" sz="2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ru-RU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Баранов П.А.</a:t>
            </a:r>
          </a:p>
          <a:p>
            <a:pPr>
              <a:lnSpc>
                <a:spcPct val="125000"/>
              </a:lnSpc>
            </a:pPr>
            <a:r>
              <a:rPr lang="ru-RU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Николаева А.М.</a:t>
            </a:r>
          </a:p>
          <a:p>
            <a:pPr>
              <a:lnSpc>
                <a:spcPct val="125000"/>
              </a:lnSpc>
            </a:pP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4" name="Текст 3"/>
          <p:cNvSpPr txBox="1">
            <a:spLocks/>
          </p:cNvSpPr>
          <p:nvPr/>
        </p:nvSpPr>
        <p:spPr>
          <a:xfrm>
            <a:off x="7018672" y="6314719"/>
            <a:ext cx="3614764" cy="8355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ct val="0"/>
              </a:spcAft>
              <a:buFont typeface="Arial" charset="0"/>
              <a:buNone/>
              <a:defRPr sz="1400" b="0" i="0" kern="1200" cap="none" baseline="0">
                <a:solidFill>
                  <a:srgbClr val="D6DDE6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ru-RU" sz="3600" b="1" dirty="0">
                <a:solidFill>
                  <a:schemeClr val="tx1"/>
                </a:solidFill>
              </a:rPr>
              <a:t>ПРАКТИКА</a:t>
            </a:r>
            <a:endParaRPr lang="ru-RU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57375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F176-B392-47E6-A198-BBDD3AE4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49" y="1366886"/>
            <a:ext cx="9484151" cy="5118755"/>
          </a:xfrm>
        </p:spPr>
        <p:txBody>
          <a:bodyPr/>
          <a:lstStyle/>
          <a:p>
            <a:r>
              <a:rPr lang="ru-RU" sz="2400" dirty="0"/>
              <a:t>Совокупность основных идей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стиль написания и представления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организация вычислений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ПАРАДИГМЫ ПРОГРАММИРОВАНИЯ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00006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F176-B392-47E6-A198-BBDD3AE4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08" y="1404594"/>
            <a:ext cx="9498291" cy="4812383"/>
          </a:xfrm>
        </p:spPr>
        <p:txBody>
          <a:bodyPr/>
          <a:lstStyle/>
          <a:p>
            <a:r>
              <a:rPr lang="ru-RU" sz="2400" dirty="0"/>
              <a:t>Императивные: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Процедурная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структурная</a:t>
            </a:r>
            <a:b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объектно-ориентированная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декларативные:</a:t>
            </a:r>
            <a:br>
              <a:rPr lang="ru-RU" sz="2400" dirty="0"/>
            </a:br>
            <a:r>
              <a:rPr lang="ru-RU" sz="2400" dirty="0"/>
              <a:t>	</a:t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функциональная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ПАРАДИГМЫ ПРОГРАММИРОВАНИЯ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390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F176-B392-47E6-A198-BBDD3AE4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87" y="1948288"/>
            <a:ext cx="4291962" cy="3096706"/>
          </a:xfrm>
        </p:spPr>
        <p:txBody>
          <a:bodyPr/>
          <a:lstStyle/>
          <a:p>
            <a:pPr algn="ctr"/>
            <a:r>
              <a:rPr lang="en-US" sz="20000" dirty="0">
                <a:latin typeface="Calibri" panose="020F0502020204030204" pitchFamily="34" charset="0"/>
                <a:cs typeface="Calibri" panose="020F0502020204030204" pitchFamily="34" charset="0"/>
              </a:rPr>
              <a:t>C#</a:t>
            </a:r>
            <a:br>
              <a:rPr lang="en-US" sz="20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ПАРАДИГМЫ ПРОГРАММИРОВАНИЯ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93" y="1532845"/>
            <a:ext cx="4286250" cy="42862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7476" y="4446425"/>
            <a:ext cx="4025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  <a:cs typeface="Arial" panose="020B0604020202020204" pitchFamily="34" charset="0"/>
              </a:rPr>
              <a:t>МУЛЬТИПАРАДИГМЕННОСТЬ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FD9B2-7FB5-4474-9195-D127CEFE908E}"/>
              </a:ext>
            </a:extLst>
          </p:cNvPr>
          <p:cNvSpPr txBox="1"/>
          <p:nvPr/>
        </p:nvSpPr>
        <p:spPr>
          <a:xfrm>
            <a:off x="5522502" y="5470083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https://github.com/pavelbrnv/Paradigms</a:t>
            </a:r>
          </a:p>
        </p:txBody>
      </p:sp>
    </p:spTree>
    <p:extLst>
      <p:ext uri="{BB962C8B-B14F-4D97-AF65-F5344CB8AC3E}">
        <p14:creationId xmlns:p14="http://schemas.microsoft.com/office/powerpoint/2010/main" val="81908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ПРОЦЕДУРЫ </a:t>
            </a:r>
            <a:r>
              <a:rPr lang="en-US" dirty="0"/>
              <a:t>/ </a:t>
            </a:r>
            <a:r>
              <a:rPr lang="ru-RU" dirty="0"/>
              <a:t>МЕТОДЫ </a:t>
            </a:r>
            <a:r>
              <a:rPr lang="en-US" dirty="0"/>
              <a:t>/ </a:t>
            </a:r>
            <a:r>
              <a:rPr lang="ru-RU" dirty="0"/>
              <a:t>ФУНКЦИИ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67" y="2963830"/>
            <a:ext cx="7194493" cy="14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4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096963" y="2682515"/>
            <a:ext cx="87889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Задача</a:t>
            </a:r>
            <a:r>
              <a:rPr lang="en-US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определить координаты объекта по известному пеленгу и дальности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06829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1 – ПРОЦЕДУРНЫЙ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1" y="2270931"/>
            <a:ext cx="10122799" cy="199895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622872" y="5470110"/>
            <a:ext cx="78454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 err="1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самодокументирование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кода облегчает понимание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209585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1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40" y="1333893"/>
            <a:ext cx="7202165" cy="524470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526503" y="2979921"/>
            <a:ext cx="6888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*вариативность создания добавляет удобства</a:t>
            </a:r>
          </a:p>
        </p:txBody>
      </p:sp>
    </p:spTree>
    <p:extLst>
      <p:ext uri="{BB962C8B-B14F-4D97-AF65-F5344CB8AC3E}">
        <p14:creationId xmlns:p14="http://schemas.microsoft.com/office/powerpoint/2010/main" val="160284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1 – ФУНКЦИОНАЛЬНЫЙ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022284" y="5507839"/>
            <a:ext cx="7446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запечатанные и неизменяемые структуры данных упрощают отладку и проектирование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7" y="1942944"/>
            <a:ext cx="10292964" cy="282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75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1 – ФУНКЦИОНАЛЬНЫЙ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383314" y="3504364"/>
            <a:ext cx="60019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отсутствие переменных поможет не заботиться об их текущем состоянии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8" y="1663662"/>
            <a:ext cx="6593092" cy="165715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518" y="4484862"/>
            <a:ext cx="79914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096963" y="2502564"/>
            <a:ext cx="878893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Задача</a:t>
            </a:r>
            <a:r>
              <a:rPr lang="en-US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определить координаты объекта по известному пеленгу и дальности</a:t>
            </a:r>
            <a:r>
              <a:rPr lang="en-US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не из начала координат</a:t>
            </a:r>
          </a:p>
        </p:txBody>
      </p:sp>
    </p:spTree>
    <p:extLst>
      <p:ext uri="{BB962C8B-B14F-4D97-AF65-F5344CB8AC3E}">
        <p14:creationId xmlns:p14="http://schemas.microsoft.com/office/powerpoint/2010/main" val="16545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2 – ПРОЦЕДУРНЫЙ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34588" y="3797848"/>
            <a:ext cx="4762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*не перепутать бы аргументы…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8" y="1834448"/>
            <a:ext cx="10168454" cy="139077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88" y="4912574"/>
            <a:ext cx="9940507" cy="57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72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2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93983" y="4133144"/>
            <a:ext cx="9174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*перегруженные операторы, как минимум, выглядят красиво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15" y="1461916"/>
            <a:ext cx="7128733" cy="25599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56" y="5012063"/>
            <a:ext cx="8631590" cy="10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49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2 – ФУНКЦИОНАЛЬНЫЙ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911813" y="3210659"/>
            <a:ext cx="8556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функции возвращают результат, который передается в качестве аргумента следующей функции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05" y="1454550"/>
            <a:ext cx="8762214" cy="173134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05" y="4174546"/>
            <a:ext cx="8268167" cy="223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6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096963" y="2502564"/>
            <a:ext cx="87889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Задача</a:t>
            </a:r>
            <a:r>
              <a:rPr lang="en-US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определить СКО для набора измеренных координат</a:t>
            </a:r>
          </a:p>
        </p:txBody>
      </p:sp>
    </p:spTree>
    <p:extLst>
      <p:ext uri="{BB962C8B-B14F-4D97-AF65-F5344CB8AC3E}">
        <p14:creationId xmlns:p14="http://schemas.microsoft.com/office/powerpoint/2010/main" val="3939078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ПРОЦЕДУРНЫЙ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36189" y="6115296"/>
            <a:ext cx="100928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*отсутствие именованных структур побуждает писать комментарии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2" y="1272418"/>
            <a:ext cx="7219770" cy="468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6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ПРОЦЕДУРНЫЙ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21132" y="5864285"/>
            <a:ext cx="83471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*надеюсь, что нигде не ошиблись в индексах массивов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70" y="1387337"/>
            <a:ext cx="9798411" cy="429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89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ПРОЦЕДУРНЫЙ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980068" y="4846178"/>
            <a:ext cx="84882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*если все считать внимательно, тогда отлично работает.</a:t>
            </a:r>
          </a:p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Дальше будет сложнее…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3" y="2139885"/>
            <a:ext cx="9942598" cy="178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9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476999" y="1157957"/>
            <a:ext cx="79912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*просто расширим функционал для двумерной точки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7" y="1951348"/>
            <a:ext cx="6356924" cy="47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7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00" y="1135924"/>
            <a:ext cx="6685492" cy="543959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913712" y="2265600"/>
            <a:ext cx="51283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*функционал можно расширять за счет дополнительных обслуживающих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038837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343567" y="5140777"/>
            <a:ext cx="79116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*можно создать отдельный класс для детектора, который будет использовать созданную математику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50" y="1800500"/>
            <a:ext cx="9817106" cy="243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1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ФУНКЦИОНАЛЬНЫЙ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98" y="1262639"/>
            <a:ext cx="7714464" cy="478163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175898" y="5690327"/>
            <a:ext cx="62923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лишь несколько новых функций.</a:t>
            </a:r>
          </a:p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При желании хоть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1749043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3 – ФУНКЦИОНАЛЬНЫЙ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52107" y="4583129"/>
            <a:ext cx="923826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декларативность:</a:t>
            </a:r>
          </a:p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создать список результатов измерений</a:t>
            </a:r>
          </a:p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сдвинуть относительно координат приемника</a:t>
            </a:r>
          </a:p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вычислить стандартное отклонение от среднего значения</a:t>
            </a:r>
          </a:p>
          <a:p>
            <a:pPr algn="r"/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1713336"/>
            <a:ext cx="9766169" cy="20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03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48261" y="2502564"/>
            <a:ext cx="90376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Задача</a:t>
            </a:r>
            <a:r>
              <a:rPr lang="en-US" sz="4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4000" dirty="0">
                <a:solidFill>
                  <a:srgbClr val="1B3F6D"/>
                </a:solidFill>
                <a:latin typeface="Arial "/>
                <a:ea typeface="Calibri" panose="020F0502020204030204" pitchFamily="34" charset="0"/>
                <a:cs typeface="Times New Roman" panose="02020603050405020304" pitchFamily="18" charset="0"/>
              </a:rPr>
              <a:t>определить СКО для набора измеренных трехмерных координат</a:t>
            </a:r>
          </a:p>
        </p:txBody>
      </p:sp>
    </p:spTree>
    <p:extLst>
      <p:ext uri="{BB962C8B-B14F-4D97-AF65-F5344CB8AC3E}">
        <p14:creationId xmlns:p14="http://schemas.microsoft.com/office/powerpoint/2010/main" val="1864766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894788" y="4786834"/>
            <a:ext cx="83603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*ООП позволит масштабировать большие проекты, держать их возрастающую сложность под контролем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63" y="2122415"/>
            <a:ext cx="71628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35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26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88" y="1192941"/>
            <a:ext cx="8851727" cy="550265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974916" y="5121486"/>
            <a:ext cx="83603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2000" b="1" dirty="0"/>
              <a:t>DRY – </a:t>
            </a:r>
            <a:r>
              <a:rPr lang="ru-RU" sz="2000" b="1" dirty="0"/>
              <a:t>«не повторяйся»</a:t>
            </a:r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622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27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88" y="1192941"/>
            <a:ext cx="8851727" cy="550265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974916" y="5121486"/>
            <a:ext cx="83603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2000" b="1" dirty="0"/>
              <a:t>DRY – </a:t>
            </a:r>
            <a:r>
              <a:rPr lang="ru-RU" sz="2000" b="1" dirty="0"/>
              <a:t>«не повторяйся»</a:t>
            </a:r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498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28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67" y="1258426"/>
            <a:ext cx="5239233" cy="550333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321652" y="2863761"/>
            <a:ext cx="265914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b="1" dirty="0"/>
              <a:t>абстракция:</a:t>
            </a:r>
          </a:p>
          <a:p>
            <a:endParaRPr lang="ru-RU" sz="2000" b="1" dirty="0"/>
          </a:p>
          <a:p>
            <a:r>
              <a:rPr lang="ru-RU" sz="2000" b="1" dirty="0"/>
              <a:t>  трудно извлекать</a:t>
            </a:r>
          </a:p>
          <a:p>
            <a:endParaRPr lang="ru-RU" sz="2000" b="1" dirty="0"/>
          </a:p>
          <a:p>
            <a:r>
              <a:rPr lang="ru-RU" sz="2000" b="1" dirty="0"/>
              <a:t>  легко расширять</a:t>
            </a:r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371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29</a:t>
            </a:fld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55" y="1272618"/>
            <a:ext cx="5729858" cy="551024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185717" y="4621860"/>
            <a:ext cx="3856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b="1" dirty="0"/>
              <a:t>по аналогии можно и </a:t>
            </a:r>
            <a:r>
              <a:rPr lang="en-US" sz="2000" b="1" dirty="0"/>
              <a:t>4D!</a:t>
            </a:r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417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ЗАДАЧА 4 – ОБЪЕКТНО-ОРИЕНТИРОВАННЫЙ СТИЛЬ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932134" y="5423139"/>
            <a:ext cx="3856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1B3F6D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sz="2000" b="1" dirty="0"/>
              <a:t>такой слайд уже был ???</a:t>
            </a:r>
            <a:endParaRPr lang="ru-RU" sz="2000" dirty="0">
              <a:solidFill>
                <a:srgbClr val="1B3F6D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39" y="1601613"/>
            <a:ext cx="9646261" cy="306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53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F176-B392-47E6-A198-BBDD3AE4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08" y="1489432"/>
            <a:ext cx="9498291" cy="4812383"/>
          </a:xfrm>
        </p:spPr>
        <p:txBody>
          <a:bodyPr/>
          <a:lstStyle/>
          <a:p>
            <a:r>
              <a:rPr lang="ru-RU" sz="2400" dirty="0" smtClean="0"/>
              <a:t>процедурная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простота</a:t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скорость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 smtClean="0"/>
              <a:t>объектно-ориентированная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масштабируемость</a:t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контроль</a:t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переиспользуемость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>функциональная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чистота</a:t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описательность</a:t>
            </a:r>
            <a:b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ориентированность на задачу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ПАРАДИГМЫ ПРОГРАММИРОВАНИЯ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3356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F176-B392-47E6-A198-BBDD3AE4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1513002"/>
            <a:ext cx="9793287" cy="4972640"/>
          </a:xfrm>
        </p:spPr>
        <p:txBody>
          <a:bodyPr/>
          <a:lstStyle/>
          <a:p>
            <a:r>
              <a:rPr lang="ru-RU" sz="2400" dirty="0"/>
              <a:t>Безошибочность и работоспособность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Возможность </a:t>
            </a:r>
            <a:r>
              <a:rPr lang="ru-RU" sz="2400" dirty="0" err="1"/>
              <a:t>переиспользования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Легкость восприятия, чистота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тестируемость</a:t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расширяемость и масштабируемость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ПОЖЕЛАНИЯ К КОДУ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511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88423AE-1910-48B6-BA07-7471BD1D88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ДОМАШНЯЯ РАБОТА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9383DF-2CCE-4CAA-AFE7-0B1F3523DD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B8D4-BC33-41FF-A8BD-96A3A8A0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7AA8F0-AB81-DB4B-90C0-FC1486022B33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787900" y="1051921"/>
            <a:ext cx="5538248" cy="5487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Задача: написать консольное приложение для расчета геометрического фактора в условиях дальномерного метода определения местоположения источника радиоизлучения.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Входные параметры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области, для которой должен быть выполнен расчет.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Топология: положение приемных устройств в декартовой системе координат.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Выходные данные: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Изображения в формате .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bmp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или .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jpg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 графическим представлением геометрического фактора для заданного размера области и заданной топологии: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Варианты выполнения задания: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балла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2 приемных устройства в топологии, двумерный случай, расчет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HDOP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1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балла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3 приемных устройства в топологии, двумерный случай, расчет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HDOP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балла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3 приемных устройства в топологии, трехмерный случай, расчет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HDOP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PDOP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 возможностью задать высоту.</a:t>
            </a:r>
            <a:endParaRPr lang="ru-RU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Стек технологий: язык программирования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#,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dotnet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6 и младше.</a:t>
            </a:r>
            <a:endParaRPr lang="ru-RU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DFE2A7-C6B9-483A-AB80-A32B82F67D7D}"/>
              </a:ext>
            </a:extLst>
          </p:cNvPr>
          <p:cNvSpPr txBox="1"/>
          <p:nvPr/>
        </p:nvSpPr>
        <p:spPr>
          <a:xfrm>
            <a:off x="568960" y="5729976"/>
            <a:ext cx="534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https://t.me/+6nADhObatB83YmNi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93F690-5D9D-412D-B992-A622B24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80" y="1445229"/>
            <a:ext cx="4217919" cy="421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65095"/>
      </p:ext>
    </p:extLst>
  </p:cSld>
  <p:clrMapOvr>
    <a:masterClrMapping/>
  </p:clrMapOvr>
</p:sld>
</file>

<file path=ppt/theme/theme1.xml><?xml version="1.0" encoding="utf-8"?>
<a:theme xmlns:a="http://schemas.openxmlformats.org/drawingml/2006/main" name="3_шаблон презентации СТЦ ">
  <a:themeElements>
    <a:clrScheme name="STC">
      <a:dk1>
        <a:srgbClr val="1B3F6D"/>
      </a:dk1>
      <a:lt1>
        <a:srgbClr val="C4D3D8"/>
      </a:lt1>
      <a:dk2>
        <a:srgbClr val="717177"/>
      </a:dk2>
      <a:lt2>
        <a:srgbClr val="E2E2E0"/>
      </a:lt2>
      <a:accent1>
        <a:srgbClr val="456488"/>
      </a:accent1>
      <a:accent2>
        <a:srgbClr val="393942"/>
      </a:accent2>
      <a:accent3>
        <a:srgbClr val="D9910E"/>
      </a:accent3>
      <a:accent4>
        <a:srgbClr val="E4AD4B"/>
      </a:accent4>
      <a:accent5>
        <a:srgbClr val="738D46"/>
      </a:accent5>
      <a:accent6>
        <a:srgbClr val="94AB7B"/>
      </a:accent6>
      <a:hlink>
        <a:srgbClr val="E8A742"/>
      </a:hlink>
      <a:folHlink>
        <a:srgbClr val="92A4BD"/>
      </a:folHlink>
    </a:clrScheme>
    <a:fontScheme name="STC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algn="l">
          <a:defRPr baseline="0" dirty="0" smtClean="0">
            <a:latin typeface="Arial Black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Презентация6" id="{E2C82FAD-68F0-2743-B6CC-82E4AFE9925C}" vid="{2DF7B6A6-BF23-2F4C-A8D3-140B0FAEB93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14873</TotalTime>
  <Words>568</Words>
  <Application>Microsoft Office PowerPoint</Application>
  <PresentationFormat>Произвольный</PresentationFormat>
  <Paragraphs>128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Arial </vt:lpstr>
      <vt:lpstr>Arial Black</vt:lpstr>
      <vt:lpstr>Arial Regular</vt:lpstr>
      <vt:lpstr>Calibri</vt:lpstr>
      <vt:lpstr>Times New Roman</vt:lpstr>
      <vt:lpstr>3_шаблон презентации СТЦ </vt:lpstr>
      <vt:lpstr>Презентация PowerPoint</vt:lpstr>
      <vt:lpstr>Совокупность основных идей   стиль написания и представления   организация вычислений </vt:lpstr>
      <vt:lpstr>Императивные:   Процедурная / структурная   объектно-ориентированная   декларативные:    функциональная</vt:lpstr>
      <vt:lpstr>C#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процедурная  простота  скорость  объектно-ориентированная  масштабируемость  контроль  переиспользуемость  функциональная  чистота  описательность  ориентированность на задачу</vt:lpstr>
      <vt:lpstr>Безошибочность и работоспособность  Возможность переиспользования  Легкость восприятия, чистота  тестируемость  расширяемость и масштабируемость 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Иванов Иван</dc:creator>
  <cp:keywords/>
  <dc:description/>
  <cp:lastModifiedBy>Pavel</cp:lastModifiedBy>
  <cp:revision>273</cp:revision>
  <cp:lastPrinted>2020-06-29T14:55:38Z</cp:lastPrinted>
  <dcterms:created xsi:type="dcterms:W3CDTF">2020-07-14T12:15:40Z</dcterms:created>
  <dcterms:modified xsi:type="dcterms:W3CDTF">2024-03-10T14:48:09Z</dcterms:modified>
  <cp:category/>
</cp:coreProperties>
</file>